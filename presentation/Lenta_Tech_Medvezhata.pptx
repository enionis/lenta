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8074152" y="0"/>
            <a:ext cx="4114800" cy="6858000"/>
          </a:xfrm>
          <a:prstGeom prst="rightTriangle">
            <a:avLst/>
          </a:prstGeom>
          <a:solidFill>
            <a:srgbClr val="F4F1D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ценников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видео магазинного робота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Lenta Tech Hackathon · CPU-only ML pipeline · Docker production stack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75488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TARGET_METRIC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5120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4/157 = 0.025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858000" y="475488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Top-пара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5120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20/23 (87%)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144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мая 2026 · Москва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«Медвежата»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Кросс-функциональная команда из 4 человек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3931920"/>
          </a:xfrm>
          <a:prstGeom prst="rect">
            <a:avLst>
              <a:gd name="adj" fmla="val 2807"/>
            </a:avLst>
          </a:prstGeom>
          <a:solidFill>
            <a:srgbClr val="F4F1D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Computer Vision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Ангелина Дугау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детекторы v2/v4/v5b, OCR pipeline,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product_name, catalog scraper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tg: @…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920240"/>
            <a:ext cx="2606040" cy="3931920"/>
          </a:xfrm>
          <a:prstGeom prst="rect">
            <a:avLst>
              <a:gd name="adj" fmla="val 2807"/>
            </a:avLst>
          </a:prstGeom>
          <a:solidFill>
            <a:srgbClr val="F4F1D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2286000"/>
            <a:ext cx="822960" cy="8229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2044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Infra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749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_заполнить_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4389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Celery + Redis,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JWT, observability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5440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tg: @…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920240"/>
            <a:ext cx="2606040" cy="3931920"/>
          </a:xfrm>
          <a:prstGeom prst="rect">
            <a:avLst>
              <a:gd name="adj" fmla="val 2807"/>
            </a:avLst>
          </a:prstGeom>
          <a:solidFill>
            <a:srgbClr val="F4F1D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286000"/>
            <a:ext cx="822960" cy="8229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0936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_заполнить_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4389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operator UI,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аналитики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5440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tg: @…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23960" y="1920240"/>
            <a:ext cx="2606040" cy="3931920"/>
          </a:xfrm>
          <a:prstGeom prst="rect">
            <a:avLst>
              <a:gd name="adj" fmla="val 2807"/>
            </a:avLst>
          </a:prstGeom>
          <a:solidFill>
            <a:srgbClr val="F4F1D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9720" y="2286000"/>
            <a:ext cx="822960" cy="8229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9" name="Text 27"/>
          <p:cNvSpPr/>
          <p:nvPr/>
        </p:nvSpPr>
        <p:spPr>
          <a:xfrm>
            <a:off x="91897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09828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/ Координация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98280" y="3749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_заполнить_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98280" y="43891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синки с организаторами,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сборка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5440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tg: @…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 особенности входных данных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едет вдоль полки, на выходе — CSV из 29 полей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2D3E"/>
                </a:solidFill>
              </a:rPr>
              <a:t>Распознать ценники с видео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2D3E"/>
                </a:solidFill>
              </a:rPr>
              <a:t>магазинного робота и вернуть CSV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2D3E"/>
                </a:solidFill>
              </a:rPr>
              <a:t>из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B2A4E"/>
                </a:solidFill>
              </a:rPr>
              <a:t>29 полей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2D3E"/>
                </a:solidFill>
              </a:rPr>
              <a:t> по каждому ценнику.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D3E"/>
                </a:solidFill>
              </a:rPr>
              <a:t>Успех пары: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E"/>
                </a:solidFill>
              </a:rPr>
              <a:t>≥ 80% из 23 контентных полей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D3E"/>
                </a:solidFill>
              </a:rPr>
              <a:t> совпали (по barcode или
spatio-temporal-ключу).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D3E"/>
                </a:solidFill>
              </a:rPr>
              <a:t>Метрика =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E"/>
                </a:solidFill>
              </a:rPr>
              <a:t>(успешные пары) / (всего ценников)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D3E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303520" cy="4297680"/>
          </a:xfrm>
          <a:prstGeom prst="rect">
            <a:avLst>
              <a:gd name="adj" fmla="val 1064"/>
            </a:avLst>
          </a:prstGeom>
          <a:solidFill>
            <a:srgbClr val="F4F1DE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ОСОБЕННОСТИ СЪЁМКИ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2377440"/>
            <a:ext cx="274320" cy="27432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866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3840 × 2160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354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разрешение 4K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944368"/>
            <a:ext cx="274320" cy="27432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2898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против ч.с.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35440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повёрнута на бок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3511296"/>
            <a:ext cx="274320" cy="27432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86600" y="34655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2.8 мм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35440" y="35112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16/2.8 мм матрица, дисторсия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078224"/>
            <a:ext cx="274320" cy="27432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40325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35440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без остановок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4645152"/>
            <a:ext cx="274320" cy="27432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4599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смешанное освещение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35440" y="4645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блики на акционных ценниках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5212080"/>
            <a:ext cx="274320" cy="27432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8660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видео × 157 ценников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35440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/ honey / jam / dairy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Допущено: ручная разметка на этапе обучения (заявлено в материалах). Финальный pipeline — полностью автоматический.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результат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Триплет-ensemble + полный 8-этапный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3200400"/>
          </a:xfrm>
          <a:prstGeom prst="rect">
            <a:avLst>
              <a:gd name="adj" fmla="val 2857"/>
            </a:avLst>
          </a:prstGeom>
          <a:solidFill>
            <a:srgbClr val="1B2A4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137160" cy="32004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TARGET_METRIC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157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0.025  ·  4 ценника прошли порог ≥ 80%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Top-пара: 20 / 23 полей (87 %)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ПО ДНЯМ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11 · бейзлайн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2441448"/>
            <a:ext cx="4572000" cy="201168"/>
          </a:xfrm>
          <a:prstGeom prst="rect">
            <a:avLst>
              <a:gd name="adj" fmla="val 13636"/>
            </a:avLst>
          </a:prstGeom>
          <a:solidFill>
            <a:srgbClr val="F4F1DE"/>
          </a:solidFill>
          <a:ln/>
        </p:spPr>
      </p:sp>
      <p:sp>
        <p:nvSpPr>
          <p:cNvPr id="15" name="Text 13"/>
          <p:cNvSpPr/>
          <p:nvPr/>
        </p:nvSpPr>
        <p:spPr>
          <a:xfrm>
            <a:off x="1380744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0/157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14 · bug fixes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2990088"/>
            <a:ext cx="4572000" cy="201168"/>
          </a:xfrm>
          <a:prstGeom prst="rect">
            <a:avLst>
              <a:gd name="adj" fmla="val 13636"/>
            </a:avLst>
          </a:prstGeom>
          <a:solidFill>
            <a:srgbClr val="F4F1DE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0" y="2990088"/>
            <a:ext cx="914400" cy="201168"/>
          </a:xfrm>
          <a:prstGeom prst="rect">
            <a:avLst>
              <a:gd name="adj" fmla="val 13636"/>
            </a:avLst>
          </a:prstGeom>
          <a:solidFill>
            <a:srgbClr val="1B2A4E"/>
          </a:solidFill>
          <a:ln/>
        </p:spPr>
      </p:sp>
      <p:sp>
        <p:nvSpPr>
          <p:cNvPr id="19" name="Text 17"/>
          <p:cNvSpPr/>
          <p:nvPr/>
        </p:nvSpPr>
        <p:spPr>
          <a:xfrm>
            <a:off x="1380744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1/157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15 · стабилизация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3538728"/>
            <a:ext cx="4572000" cy="201168"/>
          </a:xfrm>
          <a:prstGeom prst="rect">
            <a:avLst>
              <a:gd name="adj" fmla="val 13636"/>
            </a:avLst>
          </a:prstGeom>
          <a:solidFill>
            <a:srgbClr val="F4F1D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3538728"/>
            <a:ext cx="914400" cy="201168"/>
          </a:xfrm>
          <a:prstGeom prst="rect">
            <a:avLst>
              <a:gd name="adj" fmla="val 13636"/>
            </a:avLst>
          </a:prstGeom>
          <a:solidFill>
            <a:srgbClr val="1B2A4E"/>
          </a:solidFill>
          <a:ln/>
        </p:spPr>
      </p:sp>
      <p:sp>
        <p:nvSpPr>
          <p:cNvPr id="23" name="Text 21"/>
          <p:cNvSpPr/>
          <p:nvPr/>
        </p:nvSpPr>
        <p:spPr>
          <a:xfrm>
            <a:off x="1380744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1/157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16 · ensemble v2+v4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0" y="4087368"/>
            <a:ext cx="4572000" cy="201168"/>
          </a:xfrm>
          <a:prstGeom prst="rect">
            <a:avLst>
              <a:gd name="adj" fmla="val 13636"/>
            </a:avLst>
          </a:prstGeom>
          <a:solidFill>
            <a:srgbClr val="F4F1DE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0" y="4087368"/>
            <a:ext cx="2743200" cy="201168"/>
          </a:xfrm>
          <a:prstGeom prst="rect">
            <a:avLst>
              <a:gd name="adj" fmla="val 13636"/>
            </a:avLst>
          </a:prstGeom>
          <a:solidFill>
            <a:srgbClr val="1B2A4E"/>
          </a:solidFill>
          <a:ln/>
        </p:spPr>
      </p:sp>
      <p:sp>
        <p:nvSpPr>
          <p:cNvPr id="27" name="Text 25"/>
          <p:cNvSpPr/>
          <p:nvPr/>
        </p:nvSpPr>
        <p:spPr>
          <a:xfrm>
            <a:off x="1380744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16 · +v5b +TTA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0" y="4636008"/>
            <a:ext cx="4572000" cy="201168"/>
          </a:xfrm>
          <a:prstGeom prst="rect">
            <a:avLst>
              <a:gd name="adj" fmla="val 13636"/>
            </a:avLst>
          </a:prstGeom>
          <a:solidFill>
            <a:srgbClr val="F4F1DE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0" y="4636008"/>
            <a:ext cx="3657600" cy="201168"/>
          </a:xfrm>
          <a:prstGeom prst="rect">
            <a:avLst>
              <a:gd name="adj" fmla="val 13636"/>
            </a:avLst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1380744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ВИДЕО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760720"/>
            <a:ext cx="3657600" cy="777240"/>
          </a:xfrm>
          <a:prstGeom prst="rect">
            <a:avLst>
              <a:gd name="adj" fmla="val 5882"/>
            </a:avLst>
          </a:prstGeom>
          <a:solidFill>
            <a:srgbClr val="F4F1D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806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25_12-20 (wine)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080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0/57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4297680" y="5760720"/>
            <a:ext cx="3657600" cy="777240"/>
          </a:xfrm>
          <a:prstGeom prst="rect">
            <a:avLst>
              <a:gd name="adj" fmla="val 5882"/>
            </a:avLst>
          </a:prstGeom>
          <a:solidFill>
            <a:srgbClr val="F4F1DE"/>
          </a:solidFill>
          <a:ln/>
        </p:spPr>
      </p:sp>
      <p:sp>
        <p:nvSpPr>
          <p:cNvPr id="37" name="Text 35"/>
          <p:cNvSpPr/>
          <p:nvPr/>
        </p:nvSpPr>
        <p:spPr>
          <a:xfrm>
            <a:off x="4480560" y="5806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26_12-20 (wine)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80560" y="6080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4/71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138160" y="5760720"/>
            <a:ext cx="3657600" cy="777240"/>
          </a:xfrm>
          <a:prstGeom prst="rect">
            <a:avLst>
              <a:gd name="adj" fmla="val 5882"/>
            </a:avLst>
          </a:prstGeom>
          <a:solidFill>
            <a:srgbClr val="F4F1DE"/>
          </a:solidFill>
          <a:ln/>
        </p:spPr>
      </p:sp>
      <p:sp>
        <p:nvSpPr>
          <p:cNvPr id="40" name="Text 38"/>
          <p:cNvSpPr/>
          <p:nvPr/>
        </p:nvSpPr>
        <p:spPr>
          <a:xfrm>
            <a:off x="8321040" y="5806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43_15 (honey)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21040" y="6080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0/29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этапов: от MP4 до 29-полевого CSV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743200" cy="1554480"/>
          </a:xfrm>
          <a:prstGeom prst="rect">
            <a:avLst>
              <a:gd name="adj" fmla="val 2941"/>
            </a:avLst>
          </a:prstGeom>
          <a:solidFill>
            <a:srgbClr val="F4F1D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91440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103120"/>
            <a:ext cx="411480" cy="41148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triple ensemble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(v2 + v4 + v5b) + TTA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2×2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1920240"/>
            <a:ext cx="2743200" cy="1554480"/>
          </a:xfrm>
          <a:prstGeom prst="rect">
            <a:avLst>
              <a:gd name="adj" fmla="val 2941"/>
            </a:avLst>
          </a:prstGeom>
          <a:solidFill>
            <a:srgbClr val="F4F1DE"/>
          </a:solidFill>
          <a:ln/>
        </p:spPr>
      </p:sp>
      <p:sp>
        <p:nvSpPr>
          <p:cNvPr id="13" name="Shape 11"/>
          <p:cNvSpPr/>
          <p:nvPr/>
        </p:nvSpPr>
        <p:spPr>
          <a:xfrm>
            <a:off x="3319272" y="1920240"/>
            <a:ext cx="91440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47872" y="2103120"/>
            <a:ext cx="411480" cy="41148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96512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7872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IoU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top-K=3 best frames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(area × sharpness)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1920240"/>
            <a:ext cx="2743200" cy="1554480"/>
          </a:xfrm>
          <a:prstGeom prst="rect">
            <a:avLst>
              <a:gd name="adj" fmla="val 2941"/>
            </a:avLst>
          </a:prstGeom>
          <a:solidFill>
            <a:srgbClr val="F4F1DE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1344" y="1920240"/>
            <a:ext cx="91440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9944" y="2103120"/>
            <a:ext cx="411480" cy="41148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58584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9944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pad=0.30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QR-zone pad_y_top=1.2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43416" y="1920240"/>
            <a:ext cx="2743200" cy="1554480"/>
          </a:xfrm>
          <a:prstGeom prst="rect">
            <a:avLst>
              <a:gd name="adj" fmla="val 2941"/>
            </a:avLst>
          </a:prstGeom>
          <a:solidFill>
            <a:srgbClr val="F4F1DE"/>
          </a:solidFill>
          <a:ln/>
        </p:spPr>
      </p:sp>
      <p:sp>
        <p:nvSpPr>
          <p:cNvPr id="25" name="Shape 23"/>
          <p:cNvSpPr/>
          <p:nvPr/>
        </p:nvSpPr>
        <p:spPr>
          <a:xfrm>
            <a:off x="9043416" y="1920240"/>
            <a:ext cx="91440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6" name="Shape 24"/>
          <p:cNvSpPr/>
          <p:nvPr/>
        </p:nvSpPr>
        <p:spPr>
          <a:xfrm>
            <a:off x="9272016" y="2103120"/>
            <a:ext cx="411480" cy="41148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27" name="Text 25"/>
          <p:cNvSpPr/>
          <p:nvPr/>
        </p:nvSpPr>
        <p:spPr>
          <a:xfrm>
            <a:off x="9272016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20656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72016" y="2606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ru+en × 4 rotations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bottom-30% upscale ×5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2743200" cy="1554480"/>
          </a:xfrm>
          <a:prstGeom prst="rect">
            <a:avLst>
              <a:gd name="adj" fmla="val 2941"/>
            </a:avLst>
          </a:prstGeom>
          <a:solidFill>
            <a:srgbClr val="F4F1DE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703320"/>
            <a:ext cx="91440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3886200"/>
            <a:ext cx="411480" cy="41148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3444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WeChat-QR + pyzbar 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zxing-cpp + cv2.barcode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aggressive CLAHE/Otsu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19272" y="3703320"/>
            <a:ext cx="2743200" cy="1554480"/>
          </a:xfrm>
          <a:prstGeom prst="rect">
            <a:avLst>
              <a:gd name="adj" fmla="val 2941"/>
            </a:avLst>
          </a:prstGeom>
          <a:solidFill>
            <a:srgbClr val="F4F1DE"/>
          </a:solidFill>
          <a:ln/>
        </p:spPr>
      </p:sp>
      <p:sp>
        <p:nvSpPr>
          <p:cNvPr id="37" name="Shape 35"/>
          <p:cNvSpPr/>
          <p:nvPr/>
        </p:nvSpPr>
        <p:spPr>
          <a:xfrm>
            <a:off x="3319272" y="3703320"/>
            <a:ext cx="91440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8" name="Shape 36"/>
          <p:cNvSpPr/>
          <p:nvPr/>
        </p:nvSpPr>
        <p:spPr>
          <a:xfrm>
            <a:off x="3547872" y="3886200"/>
            <a:ext cx="411480" cy="41148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39" name="Text 37"/>
          <p:cNvSpPr/>
          <p:nvPr/>
        </p:nvSpPr>
        <p:spPr>
          <a:xfrm>
            <a:off x="3547872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096512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47872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Парсеры 29 полей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K-frame merge, bbox dedup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font-aware prices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81344" y="3703320"/>
            <a:ext cx="2743200" cy="1554480"/>
          </a:xfrm>
          <a:prstGeom prst="rect">
            <a:avLst>
              <a:gd name="adj" fmla="val 2941"/>
            </a:avLst>
          </a:prstGeom>
          <a:solidFill>
            <a:srgbClr val="F4F1DE"/>
          </a:solidFill>
          <a:ln/>
        </p:spPr>
      </p:sp>
      <p:sp>
        <p:nvSpPr>
          <p:cNvPr id="43" name="Shape 41"/>
          <p:cNvSpPr/>
          <p:nvPr/>
        </p:nvSpPr>
        <p:spPr>
          <a:xfrm>
            <a:off x="6181344" y="3703320"/>
            <a:ext cx="91440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9944" y="3886200"/>
            <a:ext cx="411480" cy="41148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45" name="Text 43"/>
          <p:cNvSpPr/>
          <p:nvPr/>
        </p:nvSpPr>
        <p:spPr>
          <a:xfrm>
            <a:off x="6409944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58584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09944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Qwen2.5-3B-Q4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(embedded llama-cpp)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product_name + fallback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43416" y="3703320"/>
            <a:ext cx="2743200" cy="1554480"/>
          </a:xfrm>
          <a:prstGeom prst="rect">
            <a:avLst>
              <a:gd name="adj" fmla="val 2941"/>
            </a:avLst>
          </a:prstGeom>
          <a:solidFill>
            <a:srgbClr val="F4F1DE"/>
          </a:solidFill>
          <a:ln/>
        </p:spPr>
      </p:sp>
      <p:sp>
        <p:nvSpPr>
          <p:cNvPr id="49" name="Shape 47"/>
          <p:cNvSpPr/>
          <p:nvPr/>
        </p:nvSpPr>
        <p:spPr>
          <a:xfrm>
            <a:off x="9043416" y="3703320"/>
            <a:ext cx="91440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50" name="Shape 48"/>
          <p:cNvSpPr/>
          <p:nvPr/>
        </p:nvSpPr>
        <p:spPr>
          <a:xfrm>
            <a:off x="9272016" y="3886200"/>
            <a:ext cx="411480" cy="411480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51" name="Text 49"/>
          <p:cNvSpPr/>
          <p:nvPr/>
        </p:nvSpPr>
        <p:spPr>
          <a:xfrm>
            <a:off x="9272016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820656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272016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SKU (148 GT + 167 scraped)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barcode-match → подтянуть цены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≥ 0.65 + dedup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2179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Запуск: ~50 мин/видео на CPU · готов под GPU/rknn для прод-нагрузки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критически улучшило метрику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0/157 → 4/157 за день 16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00" cy="1691640"/>
          </a:xfrm>
          <a:prstGeom prst="rect">
            <a:avLst>
              <a:gd name="adj" fmla="val 2703"/>
            </a:avLst>
          </a:prstGeom>
          <a:solidFill>
            <a:srgbClr val="F4F1D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48840"/>
            <a:ext cx="1371600" cy="384048"/>
          </a:xfrm>
          <a:prstGeom prst="rect">
            <a:avLst>
              <a:gd name="adj" fmla="val 47619"/>
            </a:avLst>
          </a:prstGeom>
          <a:solidFill>
            <a:srgbClr val="5FAD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+15-20%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K-frame OCR (3 кадра на трек)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полей на главных fields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657600" cy="1691640"/>
          </a:xfrm>
          <a:prstGeom prst="rect">
            <a:avLst>
              <a:gd name="adj" fmla="val 2703"/>
            </a:avLst>
          </a:prstGeom>
          <a:solidFill>
            <a:srgbClr val="F4F1D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148840"/>
            <a:ext cx="1371600" cy="384048"/>
          </a:xfrm>
          <a:prstGeom prst="rect">
            <a:avLst>
              <a:gd name="adj" fmla="val 47619"/>
            </a:avLst>
          </a:prstGeom>
          <a:solidFill>
            <a:srgbClr val="5FAD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BC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barcode decode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Otsu + ×4 upscale × 4 rotation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657600" cy="1691640"/>
          </a:xfrm>
          <a:prstGeom prst="rect">
            <a:avLst>
              <a:gd name="adj" fmla="val 2703"/>
            </a:avLst>
          </a:prstGeom>
          <a:solidFill>
            <a:srgbClr val="F4F1DE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2148840"/>
            <a:ext cx="1371600" cy="384048"/>
          </a:xfrm>
          <a:prstGeom prst="rect">
            <a:avLst>
              <a:gd name="adj" fmla="val 47619"/>
            </a:avLst>
          </a:prstGeom>
          <a:solidFill>
            <a:srgbClr val="5FAD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20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price-pull на barcode-match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Top-pair: подтягиваем цены из 315 SKU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657600" cy="1691640"/>
          </a:xfrm>
          <a:prstGeom prst="rect">
            <a:avLst>
              <a:gd name="adj" fmla="val 2703"/>
            </a:avLst>
          </a:prstGeom>
          <a:solidFill>
            <a:srgbClr val="F4F1D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023360"/>
            <a:ext cx="1371600" cy="384048"/>
          </a:xfrm>
          <a:prstGeom prst="rect">
            <a:avLst>
              <a:gd name="adj" fmla="val 47619"/>
            </a:avLst>
          </a:prstGeom>
          <a:solidFill>
            <a:srgbClr val="5FAD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ensemble v2+v4+v5b + TTA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501+569+363 = 1433 трека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794760"/>
            <a:ext cx="3657600" cy="1691640"/>
          </a:xfrm>
          <a:prstGeom prst="rect">
            <a:avLst>
              <a:gd name="adj" fmla="val 2703"/>
            </a:avLst>
          </a:prstGeom>
          <a:solidFill>
            <a:srgbClr val="F4F1DE"/>
          </a:solidFill>
          <a:ln/>
        </p:spPr>
      </p:sp>
      <p:sp>
        <p:nvSpPr>
          <p:cNvPr id="27" name="Shape 25"/>
          <p:cNvSpPr/>
          <p:nvPr/>
        </p:nvSpPr>
        <p:spPr>
          <a:xfrm>
            <a:off x="4526280" y="4023360"/>
            <a:ext cx="1371600" cy="384048"/>
          </a:xfrm>
          <a:prstGeom prst="rect">
            <a:avLst>
              <a:gd name="adj" fmla="val 47619"/>
            </a:avLst>
          </a:prstGeom>
          <a:solidFill>
            <a:srgbClr val="5FAD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dedup + threshold 0.65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них catalog enrichment ломал метрику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794760"/>
            <a:ext cx="3657600" cy="1691640"/>
          </a:xfrm>
          <a:prstGeom prst="rect">
            <a:avLst>
              <a:gd name="adj" fmla="val 2703"/>
            </a:avLst>
          </a:prstGeom>
          <a:solidFill>
            <a:srgbClr val="F4F1DE"/>
          </a:solidFill>
          <a:ln/>
        </p:spPr>
      </p:sp>
      <p:sp>
        <p:nvSpPr>
          <p:cNvPr id="32" name="Shape 30"/>
          <p:cNvSpPr/>
          <p:nvPr/>
        </p:nvSpPr>
        <p:spPr>
          <a:xfrm>
            <a:off x="8366760" y="4023360"/>
            <a:ext cx="1371600" cy="384048"/>
          </a:xfrm>
          <a:prstGeom prst="rect">
            <a:avLst>
              <a:gd name="adj" fmla="val 47619"/>
            </a:avLst>
          </a:prstGeom>
          <a:solidFill>
            <a:srgbClr val="5FAD61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6676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Font-size-aware price parser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676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цена не теряется в мелочи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сработало — честно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Зрелость подхода = понимание границ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v3 на расширенных bbox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OCR терял фокус на бóльшем crop'е — recall главной цены упал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Откатились на v2 (1/157 рекорд тех дней сохранён)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7797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Glare removal (CLAHE + highlight suppression)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09981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Подавлял яркие пиксели текста на акционных ценниках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3741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Отключено в финальном pipeline, оставлено как опция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6393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Б: area × sharp × conf^1.5 + median_conf ≥ 0.20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Фильтр срубил 5 из 6 catalog-barcode-матчей (conf=0.12–0.18)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233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4/157 → 0/157, откатились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445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44988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Server для мелкого шрифта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8188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Не вписался по time-budget хакатона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5093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Перенесён в future work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40410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53583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Lenta-каталог через API (Qrator block)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56784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TLS fingerprint check — не пускает curl/requests/Playwright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5952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Обошли через undetected-chromedriver (167 SKU, медленно)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Бутылочное горлышко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детектор и не каталог — декод штрихкодов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00" cy="1463040"/>
          </a:xfrm>
          <a:prstGeom prst="rect">
            <a:avLst>
              <a:gd name="adj" fmla="val 3125"/>
            </a:avLst>
          </a:prstGeom>
          <a:solidFill>
            <a:srgbClr val="F4F1D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109728" cy="1463040"/>
          </a:xfrm>
          <a:prstGeom prst="rect">
            <a:avLst/>
          </a:prstGeom>
          <a:solidFill>
            <a:srgbClr val="5FAD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A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1 433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детекций (треков)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657600" cy="1463040"/>
          </a:xfrm>
          <a:prstGeom prst="rect">
            <a:avLst>
              <a:gd name="adj" fmla="val 3125"/>
            </a:avLst>
          </a:prstGeom>
          <a:solidFill>
            <a:srgbClr val="F4F1DE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920240"/>
            <a:ext cx="109728" cy="1463040"/>
          </a:xfrm>
          <a:prstGeom prst="rect">
            <a:avLst/>
          </a:prstGeom>
          <a:solidFill>
            <a:srgbClr val="5FAD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A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/ 156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barcodes в каталоге (95 %)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657600" cy="1463040"/>
          </a:xfrm>
          <a:prstGeom prst="rect">
            <a:avLst>
              <a:gd name="adj" fmla="val 3125"/>
            </a:avLst>
          </a:prstGeom>
          <a:solidFill>
            <a:srgbClr val="F4F1DE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20240"/>
            <a:ext cx="109728" cy="1463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057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4964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декодировано декодерами (8 %)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RATE ПО ВИДЕО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25_12-20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77440" y="4096512"/>
            <a:ext cx="6858000" cy="201168"/>
          </a:xfrm>
          <a:prstGeom prst="rect">
            <a:avLst>
              <a:gd name="adj" fmla="val 13636"/>
            </a:avLst>
          </a:prstGeom>
          <a:solidFill>
            <a:srgbClr val="F4F1D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4096512"/>
            <a:ext cx="249382" cy="201168"/>
          </a:xfrm>
          <a:prstGeom prst="rect">
            <a:avLst>
              <a:gd name="adj" fmla="val 13636"/>
            </a:avLst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9372600" y="4023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442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26_12-20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77440" y="4599432"/>
            <a:ext cx="6858000" cy="201168"/>
          </a:xfrm>
          <a:prstGeom prst="rect">
            <a:avLst>
              <a:gd name="adj" fmla="val 13636"/>
            </a:avLst>
          </a:prstGeom>
          <a:solidFill>
            <a:srgbClr val="F4F1DE"/>
          </a:solidFill>
          <a:ln/>
        </p:spPr>
      </p:sp>
      <p:sp>
        <p:nvSpPr>
          <p:cNvPr id="26" name="Shape 24"/>
          <p:cNvSpPr/>
          <p:nvPr/>
        </p:nvSpPr>
        <p:spPr>
          <a:xfrm>
            <a:off x="2377440" y="4599432"/>
            <a:ext cx="1077686" cy="201168"/>
          </a:xfrm>
          <a:prstGeom prst="rect">
            <a:avLst>
              <a:gd name="adj" fmla="val 13636"/>
            </a:avLst>
          </a:prstGeom>
          <a:solidFill>
            <a:srgbClr val="E76F51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0" y="4526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70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4420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15.7 %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029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43_15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377440" y="5102352"/>
            <a:ext cx="6858000" cy="201168"/>
          </a:xfrm>
          <a:prstGeom prst="rect">
            <a:avLst>
              <a:gd name="adj" fmla="val 13636"/>
            </a:avLst>
          </a:prstGeom>
          <a:solidFill>
            <a:srgbClr val="F4F1DE"/>
          </a:solidFill>
          <a:ln/>
        </p:spPr>
      </p:sp>
      <p:sp>
        <p:nvSpPr>
          <p:cNvPr id="31" name="Text 29"/>
          <p:cNvSpPr/>
          <p:nvPr/>
        </p:nvSpPr>
        <p:spPr>
          <a:xfrm>
            <a:off x="937260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44200" y="5029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669280"/>
            <a:ext cx="11274552" cy="822960"/>
          </a:xfrm>
          <a:prstGeom prst="rect">
            <a:avLst>
              <a:gd name="adj" fmla="val 5556"/>
            </a:avLst>
          </a:prstGeom>
          <a:solidFill>
            <a:srgbClr val="1B2A4E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5669280"/>
            <a:ext cx="109728" cy="8229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733288"/>
            <a:ext cx="10908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Декодеры пробуют 72 комбинации (3 preproc × 2 upscale × 4 rotation × 3 декодера). Дальше — physical ceiling: на 43_15 GT-barcodes отсутствуют и в OCR-тексте. Требуется PaddleOCR / Real-ESRGAN / GPU-камера.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Production-готовность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api · worker · beat · redis · ui ·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8745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1874520"/>
            <a:ext cx="91440" cy="12801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:8501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2377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оператор: upload + результат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8745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12" name="Shape 10"/>
          <p:cNvSpPr/>
          <p:nvPr/>
        </p:nvSpPr>
        <p:spPr>
          <a:xfrm>
            <a:off x="5577840" y="1874520"/>
            <a:ext cx="91440" cy="12801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:8502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2377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заданий + полей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18745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0" y="1874520"/>
            <a:ext cx="91440" cy="12801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:8000/docs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89720" y="2377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для интеграции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QUEUE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34747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4560" y="3474720"/>
            <a:ext cx="91440" cy="128016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22" name="Text 20"/>
          <p:cNvSpPr/>
          <p:nvPr/>
        </p:nvSpPr>
        <p:spPr>
          <a:xfrm>
            <a:off x="242316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slowapi rate-limit · libmagic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34747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3474720"/>
            <a:ext cx="91440" cy="128016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Prometheus :9101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61120" y="34747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29" name="Shape 27"/>
          <p:cNvSpPr/>
          <p:nvPr/>
        </p:nvSpPr>
        <p:spPr>
          <a:xfrm>
            <a:off x="8961120" y="3474720"/>
            <a:ext cx="91440" cy="128016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89720" y="3977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&gt; 7 дней · SQLite jobs.db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A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94560" y="50749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4560" y="5074920"/>
            <a:ext cx="91440" cy="1280160"/>
          </a:xfrm>
          <a:prstGeom prst="rect">
            <a:avLst/>
          </a:prstGeom>
          <a:solidFill>
            <a:srgbClr val="5FAD61"/>
          </a:solidFill>
          <a:ln/>
        </p:spPr>
      </p:sp>
      <p:sp>
        <p:nvSpPr>
          <p:cNvPr id="35" name="Text 33"/>
          <p:cNvSpPr/>
          <p:nvPr/>
        </p:nvSpPr>
        <p:spPr>
          <a:xfrm>
            <a:off x="2423160" y="5120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:6379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423160" y="5577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+ pub/sub + progress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50749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38" name="Shape 36"/>
          <p:cNvSpPr/>
          <p:nvPr/>
        </p:nvSpPr>
        <p:spPr>
          <a:xfrm>
            <a:off x="5577840" y="5074920"/>
            <a:ext cx="91440" cy="1280160"/>
          </a:xfrm>
          <a:prstGeom prst="rect">
            <a:avLst/>
          </a:prstGeom>
          <a:solidFill>
            <a:srgbClr val="5FAD61"/>
          </a:solidFill>
          <a:ln/>
        </p:spPr>
      </p:sp>
      <p:sp>
        <p:nvSpPr>
          <p:cNvPr id="39" name="Text 37"/>
          <p:cNvSpPr/>
          <p:nvPr/>
        </p:nvSpPr>
        <p:spPr>
          <a:xfrm>
            <a:off x="5806440" y="5120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06440" y="5577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заданий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61120" y="5074920"/>
            <a:ext cx="3200400" cy="1280160"/>
          </a:xfrm>
          <a:prstGeom prst="rect">
            <a:avLst>
              <a:gd name="adj" fmla="val 3571"/>
            </a:avLst>
          </a:prstGeom>
          <a:solidFill>
            <a:srgbClr val="F4F1DE"/>
          </a:solidFill>
          <a:ln/>
        </p:spPr>
      </p:sp>
      <p:sp>
        <p:nvSpPr>
          <p:cNvPr id="42" name="Shape 40"/>
          <p:cNvSpPr/>
          <p:nvPr/>
        </p:nvSpPr>
        <p:spPr>
          <a:xfrm>
            <a:off x="8961120" y="5074920"/>
            <a:ext cx="91440" cy="1280160"/>
          </a:xfrm>
          <a:prstGeom prst="rect">
            <a:avLst/>
          </a:prstGeom>
          <a:solidFill>
            <a:srgbClr val="5FAD61"/>
          </a:solidFill>
          <a:ln/>
        </p:spPr>
      </p:sp>
      <p:sp>
        <p:nvSpPr>
          <p:cNvPr id="43" name="Text 41"/>
          <p:cNvSpPr/>
          <p:nvPr/>
        </p:nvSpPr>
        <p:spPr>
          <a:xfrm>
            <a:off x="9189720" y="5120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Parquet/CSV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89720" y="5577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+ аналитика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structlog JSON · Sentry SDK · Prometheus · /health (api+redis+model+disk)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МЕДВЕЖАТА × LENTA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обучения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данные собраны автоматически (ТЗ-compliant)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74552" cy="0"/>
          </a:xfrm>
          <a:prstGeom prst="line">
            <a:avLst/>
          </a:prstGeom>
          <a:noFill/>
          <a:ln w="19050">
            <a:solidFill>
              <a:srgbClr val="1B2A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11274552" cy="86868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bbox из организаторской разметки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468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кадров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~1044 ценников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· CSV в Данные/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v2 (YOLOv8n)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3383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кадров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· 271 шаблон × фоны × augment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v4 (YOLOv8n)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11274552" cy="868680"/>
          </a:xfrm>
          <a:prstGeom prst="rect">
            <a:avLst/>
          </a:prstGeom>
          <a:solidFill>
            <a:srgbClr val="F4F1D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bbox (повторно)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4297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179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v5b (YOLOv8s 1024)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Lenta (publish)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5212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SKU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GT + 167 scraped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· undetected-chromedriver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0" y="5212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barcode-match → enrichment цен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943600"/>
            <a:ext cx="11274552" cy="594360"/>
          </a:xfrm>
          <a:prstGeom prst="rect">
            <a:avLst>
              <a:gd name="adj" fmla="val 7692"/>
            </a:avLst>
          </a:prstGeom>
          <a:solidFill>
            <a:srgbClr val="1B2A4E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5943600"/>
            <a:ext cx="109728" cy="594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98932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разметки нет. Финальный pipeline работает полностью автоматически, без участия оператора на этапе инференса.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 и future 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280160" cy="457200"/>
          </a:xfrm>
          <a:prstGeom prst="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+10-20%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Server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bottom-zone мелкого шрифта (id_sku, datetime, code)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1280160" cy="457200"/>
          </a:xfrm>
          <a:prstGeom prst="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+20-30%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Real-ESRGAN super-res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barcode-zone — поднимет recall декода на 25/43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1280160" cy="457200"/>
          </a:xfrm>
          <a:prstGeom prst="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детектора на 100+ видео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разных магазинов / форматов ценников / освещения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794760"/>
            <a:ext cx="1280160" cy="457200"/>
          </a:xfrm>
          <a:prstGeom prst="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×5-10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GPU-inference или rknn (int8)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94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мин/видео CPU → ~5-10 мин на NPU робота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389120"/>
            <a:ext cx="1280160" cy="457200"/>
          </a:xfrm>
          <a:prstGeom prst="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4389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catalog API (BIRD)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4389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scraped каталога — прямая интеграция Lenta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5212080"/>
            <a:ext cx="10360152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И ДЕМО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669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F1DE"/>
                </a:solidFill>
              </a:rPr>
              <a:t>GitHub: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github.com/&lt;team&gt;/lentatech-pricetag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F1DE"/>
                </a:solidFill>
              </a:rPr>
              <a:t>Demo:  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&lt;deployment URL&gt;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F1DE"/>
                </a:solidFill>
              </a:rPr>
              <a:t>Docker: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 compose up --build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Lenta Tech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LentaTech Pricetag — Медвежата</dc:title>
  <dc:subject>PptxGenJS Presentation</dc:subject>
  <dc:creator>Команда Медвежата</dc:creator>
  <cp:lastModifiedBy>Команда Медвежата</cp:lastModifiedBy>
  <cp:revision>1</cp:revision>
  <dcterms:created xsi:type="dcterms:W3CDTF">2026-05-17T15:08:33Z</dcterms:created>
  <dcterms:modified xsi:type="dcterms:W3CDTF">2026-05-17T15:08:33Z</dcterms:modified>
</cp:coreProperties>
</file>